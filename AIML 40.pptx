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raunces Light"/>
      <p:regular r:id="rId201314"/>
    </p:embeddedFont>
    <p:embeddedFont>
      <p:font typeface="Fraunces Thin"/>
      <p:regular r:id="rId201315"/>
    </p:embeddedFont>
    <p:embeddedFont>
      <p:font typeface="Fraunces ExtraLight"/>
      <p:regular r:id="rId201316"/>
    </p:embeddedFont>
    <p:embeddedFont>
      <p:font typeface="Fraunces"/>
      <p:regular r:id="rId201317"/>
    </p:embeddedFont>
    <p:embeddedFont>
      <p:font typeface="Fraunces Medium"/>
      <p:regular r:id="rId201318"/>
    </p:embeddedFont>
    <p:embeddedFont>
      <p:font typeface="Fraunces SemiBold"/>
      <p:regular r:id="rId201319"/>
    </p:embeddedFont>
    <p:embeddedFont>
      <p:font typeface="Fraunces Bold"/>
      <p:regular r:id="rId201320"/>
    </p:embeddedFont>
    <p:embeddedFont>
      <p:font typeface="Fraunces ExtraBold"/>
      <p:regular r:id="rId201321"/>
    </p:embeddedFont>
    <p:embeddedFont>
      <p:font typeface="Fraunces Black"/>
      <p:regular r:id="rId201322"/>
    </p:embeddedFont>
    <p:embeddedFont>
      <p:font typeface="Nobile"/>
      <p:regular r:id="rId201323"/>
    </p:embeddedFont>
    <p:embeddedFont>
      <p:font typeface="Nobile Medium"/>
      <p:regular r:id="rId201324"/>
    </p:embeddedFont>
    <p:embeddedFont>
      <p:font typeface="Nobile Bold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1.png"/><Relationship Id="rId10" Type="http://schemas.openxmlformats.org/officeDocument/2006/relationships/image" Target="../media/image-7-2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.png"/><Relationship Id="rId14" Type="http://schemas.openxmlformats.org/officeDocument/2006/relationships/image" Target="../media/image-7-2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.png"/><Relationship Id="rId18" Type="http://schemas.openxmlformats.org/officeDocument/2006/relationships/image" Target="../media/image-7-2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Website Safety Classification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Intelligent, machine learning–powered detection of malicious and trusted web pages — proactively protecting users across personal, enterprise, and institutional environments.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433316"/>
            <a:ext cx="1083766" cy="215354"/>
          </a:xfrm>
          <a:prstGeom prst="roundRect">
            <a:avLst>
              <a:gd name="adj" fmla="val 47398"/>
            </a:avLst>
          </a:prstGeom>
          <a:solidFill>
            <a:srgbClr val="DDEEE0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475806"/>
            <a:ext cx="137085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CYBERSECURITY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79727" y="3433316"/>
            <a:ext cx="1327175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4389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64782" y="3475806"/>
            <a:ext cx="161426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477744" y="3433316"/>
            <a:ext cx="1456283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4389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62799" y="3475806"/>
            <a:ext cx="174337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THREAT INTELLIGENCE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63748"/>
            <a:ext cx="4722763" cy="73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Growing Web Threat Landscape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925119" y="1343248"/>
            <a:ext cx="4722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Every day, users access websites for banking, shopping, and business — yet the web is increasingly weaponised. Static defences cannot keep pace with modern threats.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25119" y="1795909"/>
            <a:ext cx="4722763" cy="648072"/>
          </a:xfrm>
          <a:prstGeom prst="roundRect">
            <a:avLst>
              <a:gd name="adj" fmla="val 16304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4042470" y="1913260"/>
            <a:ext cx="4488061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Phishing Websites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042470" y="2154957"/>
            <a:ext cx="44880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Deceptive pages mimicking trusted brands to steal credentials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925119" y="2541166"/>
            <a:ext cx="4722763" cy="648072"/>
          </a:xfrm>
          <a:prstGeom prst="roundRect">
            <a:avLst>
              <a:gd name="adj" fmla="val 16304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4042470" y="2658517"/>
            <a:ext cx="4488061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Malware Distribution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042470" y="2900214"/>
            <a:ext cx="44880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Compromised sites delivering payloads without user awareness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25119" y="3286423"/>
            <a:ext cx="4722763" cy="648072"/>
          </a:xfrm>
          <a:prstGeom prst="roundRect">
            <a:avLst>
              <a:gd name="adj" fmla="val 16304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4042470" y="3403774"/>
            <a:ext cx="4488061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Fake Domains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042470" y="3645471"/>
            <a:ext cx="44880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Look-alike URLs exploiting typosquatting and homograph attacks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25119" y="4031679"/>
            <a:ext cx="4722763" cy="648072"/>
          </a:xfrm>
          <a:prstGeom prst="roundRect">
            <a:avLst>
              <a:gd name="adj" fmla="val 16304"/>
            </a:avLst>
          </a:prstGeom>
          <a:solidFill>
            <a:srgbClr val="E8F3E8"/>
          </a:solidFill>
          <a:ln/>
        </p:spPr>
      </p:sp>
      <p:sp>
        <p:nvSpPr>
          <p:cNvPr id="15" name="Text 12"/>
          <p:cNvSpPr/>
          <p:nvPr/>
        </p:nvSpPr>
        <p:spPr>
          <a:xfrm>
            <a:off x="4042470" y="4149030"/>
            <a:ext cx="4488061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Blacklist Limitations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042470" y="4390727"/>
            <a:ext cx="44880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Reactive lists miss zero-day threats and rapidly rotating domains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4121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How the System Works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083543"/>
            <a:ext cx="86089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user submits a URL; the system analyses multiple attributes, generates a risk score, and delivers a clear safety verdict before access.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400994"/>
            <a:ext cx="7890644" cy="296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02209" y="3643135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Risk Report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502299" y="3528501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Model Inference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10540" y="3528501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Security Checks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18781" y="3528501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Feature Extract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94415" y="3643135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Submit URL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488433"/>
            <a:ext cx="86089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stage operates in milliseconds, delivering real-time classifications with full transparency into the factors driving every decision.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364730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Six layers form a secure, scalable pipeline from user input to ML-powered verdict.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2487141"/>
            <a:ext cx="3986733" cy="597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Presentation Layer: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Web UI, REST APIs, admin dashboard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Application Layer: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Auth, URL submission, reporting, notifications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Business Logic Layer: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Feature extraction, SSL verification, domain and content analysis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ML Inference Layer: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Random Forest, XGBoost, SVM, Neural Networks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Database Layer: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PostgreSQL, Redis, Elasticsearch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Cloud Infrastructure: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AWS/GCP, Kubernetes, auto-scaling</a:t>
            </a:r>
            <a:endParaRPr lang="en-US" sz="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276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Feature Extraction &amp; Security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7926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engine extracts hundreds of features across four dimensions to build a comprehensive threat profile.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65548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226246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URL &amp; Domain Analysis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532757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URL length, entropy, suspicious tokens, domain age, WHOIS data, registrar reputation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765548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226246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SSL Certificate Verification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2532757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Certificate validity, issuer trust chain, expiry status, SAN mismatches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69903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730600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Webpage Content Analysis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4037112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JavaScript obfuscation, iframe injection, form behaviour, keyword detection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269903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730600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Hosting &amp; Network Analysis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4037112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IP reputation, geolocation anomalies, ASN history, hosting provider risk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109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Machine Learning Classification Engine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96157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37844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Model Training Pipeline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741661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Multiple algorithms are trained on labelled datasets of malicious and trusted URLs, then evaluated on accuracy, precision, recall, F1-score, and ROC-AUC.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549649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Dataset: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Millions of labelled URLs from PhishTank, VirusTotal, and curated corpora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Engineering: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Lexical, structural, host-based, and content-derived features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Tuning: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Cross-validation, grid search, and hyperparameter optimisation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Improvement: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Continuous retraining on newly discovered threats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613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Technology Stack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96119" y="906959"/>
            <a:ext cx="86089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modern, cloud-native stack delivers security, scalability, and high-performance inference.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53716"/>
            <a:ext cx="8151763" cy="65119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063" y="1397868"/>
            <a:ext cx="162744" cy="162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7584" y="1276499"/>
            <a:ext cx="749751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Frontend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27584" y="1495871"/>
            <a:ext cx="7497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React.js / Angular, D3.js, Chart.js — responsive UI with real-time dashboards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1887959"/>
            <a:ext cx="8151763" cy="651197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063" y="2132112"/>
            <a:ext cx="162744" cy="16274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27584" y="2010742"/>
            <a:ext cx="749751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Backend &amp; APIs</a:t>
            </a:r>
            <a:endParaRPr lang="en-US" sz="1050" dirty="0"/>
          </a:p>
        </p:txBody>
      </p:sp>
      <p:sp>
        <p:nvSpPr>
          <p:cNvPr id="11" name="Text 5"/>
          <p:cNvSpPr/>
          <p:nvPr/>
        </p:nvSpPr>
        <p:spPr>
          <a:xfrm>
            <a:off x="1027584" y="2230115"/>
            <a:ext cx="7497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Flask / Django, Node.js, RESTful APIs, OAuth 2.0 / JWT authentication</a:t>
            </a:r>
            <a:endParaRPr lang="en-US" sz="8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2622203"/>
            <a:ext cx="8151763" cy="651197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6063" y="2866355"/>
            <a:ext cx="162744" cy="16274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27584" y="2744986"/>
            <a:ext cx="749751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15" name="Text 7"/>
          <p:cNvSpPr/>
          <p:nvPr/>
        </p:nvSpPr>
        <p:spPr>
          <a:xfrm>
            <a:off x="1027584" y="2964359"/>
            <a:ext cx="7497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PostgreSQL, Redis cache, Elasticsearch — high-throughput storage and search</a:t>
            </a:r>
            <a:endParaRPr lang="en-US" sz="8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6119" y="3356446"/>
            <a:ext cx="8151763" cy="651197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6063" y="3600599"/>
            <a:ext cx="162744" cy="16274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027584" y="3479229"/>
            <a:ext cx="749751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ML &amp; Security</a:t>
            </a:r>
            <a:endParaRPr lang="en-US" sz="1050" dirty="0"/>
          </a:p>
        </p:txBody>
      </p:sp>
      <p:sp>
        <p:nvSpPr>
          <p:cNvPr id="19" name="Text 9"/>
          <p:cNvSpPr/>
          <p:nvPr/>
        </p:nvSpPr>
        <p:spPr>
          <a:xfrm>
            <a:off x="1027584" y="3698602"/>
            <a:ext cx="7497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Scikit-learn, XGBoost, TensorFlow / Keras, VirusTotal API, WHOIS, SSL Labs</a:t>
            </a:r>
            <a:endParaRPr lang="en-US" sz="85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6119" y="4090690"/>
            <a:ext cx="8151763" cy="651197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6063" y="4334842"/>
            <a:ext cx="162744" cy="162744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027584" y="4213473"/>
            <a:ext cx="749751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Cloud &amp; DevOps</a:t>
            </a:r>
            <a:endParaRPr lang="en-US" sz="1050" dirty="0"/>
          </a:p>
        </p:txBody>
      </p:sp>
      <p:sp>
        <p:nvSpPr>
          <p:cNvPr id="23" name="Text 11"/>
          <p:cNvSpPr/>
          <p:nvPr/>
        </p:nvSpPr>
        <p:spPr>
          <a:xfrm>
            <a:off x="1027584" y="4432846"/>
            <a:ext cx="7497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AWS / GCP, Docker, Kubernetes, CI/CD pipelines, Terraform infrastructure-as-code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109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Model Performance &amp; Testing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96157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37844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Validation &amp; Testing Rigour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741661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platform undergoes comprehensive testing across functional, security, performance, and ML validation dimensions.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549649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Functional &amp; API Testing: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End-to-end workflows, REST API validation, database integrity checks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Security Testing: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Penetration testing, input validation, authentication hardening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Performance: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&lt;200 ms prediction latency, 99.9% availability, thousands of concurrent users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ML Validation: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Confusion matrix analysis, false positive rate monitoring, UAT with security teams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1779"/>
            <a:ext cx="4722763" cy="830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Applications, Challenges &amp; the Road Ahead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96119" y="1439242"/>
            <a:ext cx="2299097" cy="1991767"/>
          </a:xfrm>
          <a:prstGeom prst="roundRect">
            <a:avLst>
              <a:gd name="adj" fmla="val 6006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629022" y="1572146"/>
            <a:ext cx="2033290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Real-World Applications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9022" y="2062237"/>
            <a:ext cx="2033290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Deployed across SOCs, ISPs, financial institutions, government agencies, educational networks, and cloud security platforms for real-time threat prevention.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919785" y="1439242"/>
            <a:ext cx="2299097" cy="1991767"/>
          </a:xfrm>
          <a:prstGeom prst="roundRect">
            <a:avLst>
              <a:gd name="adj" fmla="val 6006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3052688" y="1572146"/>
            <a:ext cx="2033290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Implementation Challenges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52688" y="2062237"/>
            <a:ext cx="2033290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Zero-day phishing, fast-flux domains, encrypted traffic, and false positive reduction — addressed through ensemble models, threat feeds, and privacy-preserving design.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6119" y="3555578"/>
            <a:ext cx="4722763" cy="1166143"/>
          </a:xfrm>
          <a:prstGeom prst="roundRect">
            <a:avLst>
              <a:gd name="adj" fmla="val 10257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629022" y="3688482"/>
            <a:ext cx="445695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9022" y="3970883"/>
            <a:ext cx="4456956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Deep learning classifiers, real-time threat intelligence, browser extensions, explainable AI, federated learning, SIEM integration, and blockchain-based threat sharing.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46348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Conclusion: A Smarter Defence for the Modern Web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496119" y="1543794"/>
            <a:ext cx="472276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Website Safety Classification System unites machine learning, multi-dimensional feature analysis, and cybersecurity intelligence to proactively identify malicious websites — before harm occurs.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083" y="2285888"/>
            <a:ext cx="196007" cy="19600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0800" y="2281833"/>
            <a:ext cx="429808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Proactive Detection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920800" y="2558207"/>
            <a:ext cx="429808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Identifies zero-day and evolving threats that static blacklists miss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5083" y="3004058"/>
            <a:ext cx="196007" cy="19600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0800" y="3000003"/>
            <a:ext cx="429808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Intelligent Risk Scoring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920800" y="3276377"/>
            <a:ext cx="429808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Transparent, explainable verdicts that empower informed user decisions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5083" y="3923072"/>
            <a:ext cx="196007" cy="19600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20800" y="3919017"/>
            <a:ext cx="429808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Enterprise-Ready Scale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920800" y="4195390"/>
            <a:ext cx="429808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Cloud-native architecture supporting thousands of concurrent analyses with sub-second latency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2026-07-28T05:19:43Z</dcterms:created>
  <dcterms:modified xsi:type="dcterms:W3CDTF">2026-07-28T05:19:43Z</dcterms:modified>
</cp:coreProperties>
</file>